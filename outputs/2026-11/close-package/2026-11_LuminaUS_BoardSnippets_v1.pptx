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3657600" cy="514350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3017520" cy="5143500"/>
          </a:xfrm>
          <a:prstGeom prst="rect">
            <a:avLst/>
          </a:prstGeom>
          <a:solidFill>
            <a:srgbClr val="243080"/>
          </a:solidFill>
          <a:ln w="12700">
            <a:solidFill>
              <a:srgbClr val="243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011680" cy="292608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⚠  DRAFT — INPUTS PENDING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</a:rPr>
              <a:t>LUMINA STREAMING CO.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November 2026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Close Package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5943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CADCFC"/>
                </a:solidFill>
              </a:rPr>
              <a:t>PERIOD END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3264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November 30,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CADCFC"/>
                </a:solidFill>
              </a:rPr>
              <a:t>ENTITY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468880" y="3264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LuminaUS + Consolidated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CADCFC"/>
                </a:solidFill>
              </a:rPr>
              <a:t>STATUS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480560" y="3264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BD5 — Pending CFO Sign-off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CADCFC">
                    <a:alpha val="70000"/>
                  </a:srgbClr>
                </a:solidFill>
              </a:rPr>
              <a:t>Prepared by Close Reporting Agent v0.1.0  |  Source: Reconciliation Agent memo + lumina_close_dataset.xlsx  |  JE Review &amp; Flux outputs pending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NOVEMBER 2026 — FINANCIAL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November 30,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274320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73152" cy="1417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$152.0M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7A4A"/>
                </a:solidFill>
              </a:rPr>
              <a:t>Budget $149.0M    +$3.0M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18688" y="932688"/>
            <a:ext cx="274320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932688"/>
            <a:ext cx="73152" cy="1417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Gross Profit (US)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55848" y="1243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$62.6M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55848" y="1737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7A4A"/>
                </a:solidFill>
              </a:rPr>
              <a:t>Budget $60.7M    +$1.9M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63056" y="932688"/>
            <a:ext cx="274320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932688"/>
            <a:ext cx="73152" cy="1417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Operating Income (US)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12435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$2.6M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1737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00000"/>
                </a:solidFill>
              </a:rPr>
              <a:t>Budget $3.4M    ($0.8M)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50592"/>
          <a:ext cx="8595360" cy="2075688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1005840"/>
                <a:gridCol w="1280160"/>
              </a:tblGrid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Nov-26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Nov-26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BvA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Oct-26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 Revenue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$106.0M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$104.0M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+$2.0M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$104.4M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Advertising Revenue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$38.6M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Revenue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 (Consol.)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$152.0M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$149.0M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+$3.0M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$144.9M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of Revenue (US)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$46.1M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$44.8M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($1.3M)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$44.7M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 (US)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$62.6M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$60.7M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+$1.9M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$58.9M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 (US)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57.6%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+0.1pp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56.9%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OpEx (US)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$60.0M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$57.3M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($2.7M)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$55.7M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INCOME (US)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$3.4M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($0.8M)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$3.3M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 Margin (US)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-0.8pp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</a:rPr>
              <a:t>Note: Revenue is consolidated (all entities). P&amp;L below revenue is LuminaUS entity only — EMEA/APAC consolidation pending.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REVENUE BRIDGE — OCTOBER TO NOVEMBER 2026  (CONSOLIDATED)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53667"/>
            <a:ext cx="822960" cy="2981173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9347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$144.9M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44714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Oct-26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1453667"/>
            <a:ext cx="36576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28800" y="1420749"/>
            <a:ext cx="822960" cy="3291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146429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A4A"/>
                </a:solidFill>
              </a:rPr>
              <a:t>+$1.6M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44714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Sub Rev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420749"/>
            <a:ext cx="36576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017520" y="1309649"/>
            <a:ext cx="822960" cy="1111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035329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A4A"/>
                </a:solidFill>
              </a:rPr>
              <a:t>+$5.4M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44714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Ad Rev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0" y="1309649"/>
            <a:ext cx="365760" cy="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206240" y="1307592"/>
            <a:ext cx="822960" cy="2057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0332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A4A"/>
                </a:solidFill>
              </a:rPr>
              <a:t>+$0.1M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44714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Other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94960" y="1307592"/>
            <a:ext cx="822960" cy="312724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0332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$152.0M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44714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Nov-26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76022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0" y="16504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$130M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0" y="144475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$140M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134874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0" y="12390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$150M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0" y="10332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$160M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65760" y="8412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Revenue grew $7.1M month-over-month (+4.9%), led by a $5.4M advertising surge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Advertising +$5.4M:  </a:t>
            </a:r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US performance advertising outperformance (+$4.3M) and EMEA lift (+$0.8M).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8737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Subscription +$1.6M:  </a:t>
            </a:r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Steady US growth (+$0.7M US sub, +$0.6M EMEA sub); APAC slightly below budget.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VARIANCE EXPLANATIONS — NOVEMBER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877824"/>
          </a:xfrm>
          <a:prstGeom prst="rect">
            <a:avLst/>
          </a:prstGeom>
          <a:solidFill>
            <a:srgbClr val="F4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54864" cy="87782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Performance Marketing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9875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$3.0M over budget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252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Q4 performance marketing spend accelerated in November; Meta and Google campaigns ran above plan to capture holiday acquisition window.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4996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Owner: CMO  |  Approved budget increase expected to reduce December spend by a comparable amount.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8595360" cy="877824"/>
          </a:xfrm>
          <a:prstGeom prst="rect">
            <a:avLst/>
          </a:prstGeom>
          <a:solidFill>
            <a:srgbClr val="ECEE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20240"/>
            <a:ext cx="54864" cy="8778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75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Advertising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9751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$1.0M favorable to budget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212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US CPMs and fill rates exceeded forecast on Q4 advertiser demand. EMEA advertising also outperformed by $0.2M.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Owner: VP Revenue  |  Partially offset by APAC advertising shortfall of $0.7M — lower regional CPMs; FP&amp;A monitoring.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8595360" cy="877824"/>
          </a:xfrm>
          <a:prstGeom prst="rect">
            <a:avLst/>
          </a:prstGeom>
          <a:solidFill>
            <a:srgbClr val="F4F6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07792"/>
            <a:ext cx="54864" cy="87782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626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CDN / Streaming Delivery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9626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$0.8M over budget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200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Elevated streaming hours driven by the November content launch slate. CDN unit costs in line with contracted rates.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474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Owner: Engineering  |  Within normal operating range for a content launch month; no unit cost concern.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895344"/>
            <a:ext cx="8595360" cy="877824"/>
          </a:xfrm>
          <a:prstGeom prst="rect">
            <a:avLst/>
          </a:prstGeom>
          <a:solidFill>
            <a:srgbClr val="ECEE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895344"/>
            <a:ext cx="54864" cy="87782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50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Engineering Salaries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39502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$0.5M favorable to budget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187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Three open engineering headcount positions not yet backfilled; favorable variance is timing, not structural.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44622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Owner: VP Engineering  |  Backfill interviews in progress; December spend expected to normalize.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C55A11"/>
                </a:solidFill>
              </a:rPr>
              <a:t>Source: Flux &amp; Variance Agent output pending — drivers derived from TB analysis and Reconciliation memo.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CASH POSITION &amp; CLOSE EXCEPTIONS — NOVEMBER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078992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0789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Total Cash &amp; Equivalents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234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$487.8M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1691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Budget $483.0M  |  Oct-26 $477.2M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0" y="1234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+$10.6M MoM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4206240" cy="1078992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48840"/>
            <a:ext cx="64008" cy="10789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402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Operating Accounts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$202.8M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8912" y="29260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LuminaUS $142.5M  |  EMEA $38.2M  |  APAC $22.1M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3383280"/>
            <a:ext cx="4206240" cy="1078992"/>
          </a:xfrm>
          <a:prstGeom prst="rect">
            <a:avLst/>
          </a:prstGeom>
          <a:solidFill>
            <a:srgbClr val="F4F6FA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383280"/>
            <a:ext cx="64008" cy="10789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4747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Money Market (US)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3703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$285.0M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38912" y="4160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In line with budget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46320" y="868680"/>
            <a:ext cx="4023360" cy="4160520"/>
          </a:xfrm>
          <a:prstGeom prst="rect">
            <a:avLst/>
          </a:prstGeom>
          <a:solidFill>
            <a:srgbClr val="F8F9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932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CLOSE EXCEPTIONS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129844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1298448"/>
            <a:ext cx="54864" cy="6217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3350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7A4A"/>
                </a:solidFill>
              </a:rPr>
              <a:t>RESOLVED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983480" y="151790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Wire fees + interest not booked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170078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$10.7K in bank items not yet recorded. JE-PROP-001/002 high-confidence; pending Controller batch approval.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892040" y="1993392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993392"/>
            <a:ext cx="54864" cy="62179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0299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55A11"/>
                </a:solidFill>
              </a:rPr>
              <a:t>IN PROGRESS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983480" y="22128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IC mismatch — LuminaUS / LuminaEMEA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239572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$12.4M one-sided booking. EMEA correction (JE-PROP-004) drafted and routed to EMEA controller. US books no adjustment.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92040" y="2688336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2688336"/>
            <a:ext cx="54864" cy="62179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724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55A11"/>
                </a:solidFill>
              </a:rPr>
              <a:t>IN PROGRESS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983480" y="29077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Stale Oct-26 marketing accrual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83480" y="309067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$850K accrual not reversed when Nov invoice posted. JE-PROP-005 high-confidence reversal; pending approval.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92040" y="338328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92040" y="3383280"/>
            <a:ext cx="54864" cy="6217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419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</a:rPr>
              <a:t>WATCH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983480" y="360273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Outstanding check #4521 — Greenway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83480" y="378561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$45K check issued Sep-24, aged 67 days. Vendor confirmation pending. Void + reissue upon confirmation.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92040" y="407822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4078224"/>
            <a:ext cx="54864" cy="6217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</a:rPr>
              <a:t>WATCH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983480" y="42976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JE-2026-11-0042 — Weekend posting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83480" y="448056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$1.5M reclass posted Saturday by James Walker, no support doc reference. JE Reviewer output pending.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Lumina Streaming Co. — November 2026 Close Package</dc:title>
  <dc:subject>PptxGenJS Presentation</dc:subject>
  <dc:creator>Close Reporting Agent v0.1.0</dc:creator>
  <cp:lastModifiedBy>Close Reporting Agent v0.1.0</cp:lastModifiedBy>
  <cp:revision>1</cp:revision>
  <dcterms:created xsi:type="dcterms:W3CDTF">2026-05-26T20:05:24Z</dcterms:created>
  <dcterms:modified xsi:type="dcterms:W3CDTF">2026-05-26T20:05:24Z</dcterms:modified>
</cp:coreProperties>
</file>